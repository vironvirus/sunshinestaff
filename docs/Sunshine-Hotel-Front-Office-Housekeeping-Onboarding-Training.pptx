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91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685800"/>
            <a:ext cx="11064240" cy="5212080"/>
          </a:xfrm>
          <a:prstGeom prst="round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68680" y="1051560"/>
            <a:ext cx="164592" cy="4480560"/>
          </a:xfrm>
          <a:prstGeom prst="rect">
            <a:avLst/>
          </a:prstGeom>
          <a:solidFill>
            <a:srgbClr val="C59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60120"/>
            <a:ext cx="1097280" cy="16465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188720"/>
            <a:ext cx="78638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Sunshine Hotel Staff Portal</a:t>
            </a:r>
          </a:p>
          <a:p>
            <a:pPr>
              <a:spcBef>
                <a:spcPts val="800"/>
              </a:spcBef>
            </a:pPr>
            <a:r>
              <a:rPr sz="2400" b="1">
                <a:solidFill>
                  <a:srgbClr val="FFFFFF"/>
                </a:solidFill>
                <a:latin typeface="Aptos"/>
              </a:rPr>
              <a:t>Front Office and HouseKeeping Manager/Supervisor Onboarding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743200"/>
            <a:ext cx="68580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DCE2EB"/>
                </a:solidFill>
                <a:latin typeface="Aptos"/>
              </a:rPr>
              <a:t>Detailed practical training for live room control, report handling, complaints, cleaned-room coordination, and shift supervision.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52628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C59D40"/>
                </a:solidFill>
                <a:latin typeface="Aptos"/>
              </a:rPr>
              <a:t>Audience: Front Office Manager, Front Office Supervisors, HouseKeeping Manager, HouseKeeping Supervisors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46520"/>
            <a:ext cx="11155680" cy="27432"/>
          </a:xfrm>
          <a:prstGeom prst="rect">
            <a:avLst/>
          </a:prstGeom>
          <a:solidFill>
            <a:srgbClr val="C59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475569"/>
                </a:solidFill>
                <a:latin typeface="Aptos"/>
              </a:rPr>
              <a:t>Sunshine Hotel Staff Portal Training | Powered by Tapxora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4373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475569"/>
                </a:solidFill>
                <a:latin typeface="Aptos"/>
              </a:rP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C59D40"/>
                </a:solidFill>
                <a:latin typeface="Aptos"/>
              </a:rPr>
              <a:t>SESSION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795527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162338"/>
                </a:solidFill>
                <a:latin typeface="Aptos"/>
              </a:rPr>
              <a:t>Training Agenda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73152"/>
            <a:ext cx="960120" cy="14407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417320"/>
            <a:ext cx="7315200" cy="4709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0F172A"/>
                </a:solidFill>
                <a:latin typeface="Aptos"/>
              </a:rPr>
              <a:t>1. Understand exactly who can do what in the portal.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0F172A"/>
                </a:solidFill>
                <a:latin typeface="Aptos"/>
              </a:rPr>
              <a:t>2. Learn the layout of the Work, Information, and Events and Bookings tabs.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0F172A"/>
                </a:solidFill>
                <a:latin typeface="Aptos"/>
              </a:rPr>
              <a:t>3. Train Front Office leaders on check-in, check-out, room move, complaints, and reports.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0F172A"/>
                </a:solidFill>
                <a:latin typeface="Aptos"/>
              </a:rPr>
              <a:t>4. Train HouseKeeping leaders on cleaned rooms, report boards, out-of-order rooms, and coordination.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0F172A"/>
                </a:solidFill>
                <a:latin typeface="Aptos"/>
              </a:rPr>
              <a:t>5. Finish with practice drills, data-quality rules, and go-live sign-off.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155680" cy="27432"/>
          </a:xfrm>
          <a:prstGeom prst="rect">
            <a:avLst/>
          </a:prstGeom>
          <a:solidFill>
            <a:srgbClr val="C59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475569"/>
                </a:solidFill>
                <a:latin typeface="Aptos"/>
              </a:rPr>
              <a:t>Sunshine Hotel Staff Portal Training | Powered by Tapxora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64373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475569"/>
                </a:solidFill>
                <a:latin typeface="Aptos"/>
              </a:rP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C59D40"/>
                </a:solidFill>
                <a:latin typeface="Aptos"/>
              </a:rPr>
              <a:t>EXPECTED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795527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162338"/>
                </a:solidFill>
                <a:latin typeface="Aptos"/>
              </a:rPr>
              <a:t>Learning Outcomes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73152"/>
            <a:ext cx="960120" cy="14407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933513"/>
            <a:ext cx="10698480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F172A"/>
                </a:solidFill>
                <a:latin typeface="Aptos"/>
              </a:rPr>
              <a:t>Log in successfully and identify the correct dashboard for each role.</a:t>
            </a: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F172A"/>
                </a:solidFill>
                <a:latin typeface="Aptos"/>
              </a:rPr>
              <a:t>Use the correct tab and work section without guessing.</a:t>
            </a: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F172A"/>
                </a:solidFill>
                <a:latin typeface="Aptos"/>
              </a:rPr>
              <a:t>Front Office leaders can check in, check out, and move guests correctly.</a:t>
            </a: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dirty="0" err="1">
                <a:solidFill>
                  <a:srgbClr val="0F172A"/>
                </a:solidFill>
                <a:latin typeface="Aptos"/>
              </a:rPr>
              <a:t>HouseKeeping</a:t>
            </a:r>
            <a:r>
              <a:rPr sz="2000" dirty="0">
                <a:solidFill>
                  <a:srgbClr val="0F172A"/>
                </a:solidFill>
                <a:latin typeface="Aptos"/>
              </a:rPr>
              <a:t> leaders can publish cleaned rooms and complete morning/afternoon room reports correctly.</a:t>
            </a: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F172A"/>
                </a:solidFill>
                <a:latin typeface="Aptos"/>
              </a:rPr>
              <a:t>Both departments can handle complaints, reports, and shift supervision with confidence.</a:t>
            </a: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F172A"/>
                </a:solidFill>
                <a:latin typeface="Aptos"/>
              </a:rPr>
              <a:t>Both departments understand which updates are real-time and why speed matters.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155680" cy="27432"/>
          </a:xfrm>
          <a:prstGeom prst="rect">
            <a:avLst/>
          </a:prstGeom>
          <a:solidFill>
            <a:srgbClr val="C59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475569"/>
                </a:solidFill>
                <a:latin typeface="Aptos"/>
              </a:rPr>
              <a:t>Sunshine Hotel Staff Portal Training | Powered by Tapxora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64373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475569"/>
                </a:solidFill>
                <a:latin typeface="Aptos"/>
              </a:rP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C59D40"/>
                </a:solidFill>
                <a:latin typeface="Aptos"/>
              </a:rPr>
              <a:t>ROLE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795527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600" b="1" dirty="0">
                <a:solidFill>
                  <a:srgbClr val="162338"/>
                </a:solidFill>
                <a:latin typeface="Aptos"/>
              </a:rPr>
              <a:t>Access and Capability Matrix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73152"/>
            <a:ext cx="960120" cy="1440743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63040"/>
          <a:ext cx="1088136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Capability</a:t>
                      </a:r>
                    </a:p>
                  </a:txBody>
                  <a:tcPr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Front Office Manager/Supervisor</a:t>
                      </a:r>
                    </a:p>
                  </a:txBody>
                  <a:tcPr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HouseKeeping Manager/Supervisor</a:t>
                      </a:r>
                    </a:p>
                  </a:txBody>
                  <a:tcPr>
                    <a:solidFill>
                      <a:srgbClr val="1623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dirty="0">
                          <a:solidFill>
                            <a:srgbClr val="0F172A"/>
                          </a:solidFill>
                          <a:latin typeface="Aptos"/>
                        </a:rPr>
                        <a:t>Work &gt; Rooms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Aptos"/>
                        </a:rPr>
                        <a:t>Can check in, check out, move guests, and print/download reports.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Aptos"/>
                        </a:rPr>
                        <a:t>Can view room metrics and cleaned-room board.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Aptos"/>
                        </a:rPr>
                        <a:t>Publish cleaned rooms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Aptos"/>
                        </a:rPr>
                        <a:t>View only. Front Office must not publish cleaned rooms.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Aptos"/>
                        </a:rPr>
                        <a:t>Yes. Publish and clear cleaned-room entries.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Aptos"/>
                        </a:rPr>
                        <a:t>HouseKeeping Reports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Aptos"/>
                        </a:rPr>
                        <a:t>View not primary in current workflow.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Aptos"/>
                        </a:rPr>
                        <a:t>Yes. Morning and afternoon reports, print, and download.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Aptos"/>
                        </a:rPr>
                        <a:t>Complaints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Aptos"/>
                        </a:rPr>
                        <a:t>Can report and clear room complaints.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Aptos"/>
                        </a:rPr>
                        <a:t>Can report and clear room complaints.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Aptos"/>
                        </a:rPr>
                        <a:t>Property issues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Aptos"/>
                        </a:rPr>
                        <a:t>View only.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Aptos"/>
                        </a:rPr>
                        <a:t>Can mark rooms out of order and clear them after fix.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Aptos"/>
                        </a:rPr>
                        <a:t>Events and Bookings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Aptos"/>
                        </a:rPr>
                        <a:t>Can create and update events/bookings.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Aptos"/>
                        </a:rPr>
                        <a:t>Can view events/bookings for coordination.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Aptos"/>
                        </a:rPr>
                        <a:t>Team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Aptos"/>
                        </a:rPr>
                        <a:t>Can assign and remove shift dates for team members.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Aptos"/>
                        </a:rPr>
                        <a:t>Can assign and remove shift dates for team members.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Aptos"/>
                        </a:rPr>
                        <a:t>Information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Aptos"/>
                        </a:rPr>
                        <a:t>View news, announcements, birthdays, recognition, and personal details.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dirty="0">
                          <a:solidFill>
                            <a:srgbClr val="0F172A"/>
                          </a:solidFill>
                          <a:latin typeface="Aptos"/>
                        </a:rPr>
                        <a:t>View news, announcements, birthdays, recognition, and personal details.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6446520"/>
            <a:ext cx="11155680" cy="27432"/>
          </a:xfrm>
          <a:prstGeom prst="rect">
            <a:avLst/>
          </a:prstGeom>
          <a:solidFill>
            <a:srgbClr val="C59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475569"/>
                </a:solidFill>
                <a:latin typeface="Aptos"/>
              </a:rPr>
              <a:t>Sunshine Hotel Staff Portal Training | Powered by Tapxora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4373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475569"/>
                </a:solidFill>
                <a:latin typeface="Aptos"/>
              </a:rP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C59D40"/>
                </a:solidFill>
                <a:latin typeface="Aptos"/>
              </a:rPr>
              <a:t>SCREEN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795527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162338"/>
                </a:solidFill>
                <a:latin typeface="Aptos"/>
              </a:rPr>
              <a:t>Portal Layout and Navigation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73152"/>
            <a:ext cx="960120" cy="144074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" y="1417320"/>
            <a:ext cx="5440680" cy="47548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9632" y="1417320"/>
            <a:ext cx="5394960" cy="47548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62763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62338"/>
                </a:solidFill>
                <a:latin typeface="Aptos"/>
              </a:rPr>
              <a:t>What every participant should notice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1627632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62338"/>
                </a:solidFill>
                <a:latin typeface="Aptos"/>
              </a:rPr>
              <a:t>How to move through the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4884666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dirty="0">
                <a:solidFill>
                  <a:srgbClr val="0F172A"/>
                </a:solidFill>
                <a:latin typeface="Aptos"/>
              </a:rPr>
              <a:t>Header shows logo, staff name, department, title, and Sign out.</a:t>
            </a:r>
          </a:p>
          <a:p>
            <a:pPr algn="l">
              <a:spcAft>
                <a:spcPts val="800"/>
              </a:spcAft>
            </a:pPr>
            <a:r>
              <a:rPr sz="1800" dirty="0">
                <a:solidFill>
                  <a:srgbClr val="0F172A"/>
                </a:solidFill>
                <a:latin typeface="Aptos"/>
              </a:rPr>
              <a:t>Summary cards show live numbers such as In-house, Available rooms, Cleaned rooms, and Team.</a:t>
            </a:r>
          </a:p>
          <a:p>
            <a:pPr algn="l">
              <a:spcAft>
                <a:spcPts val="800"/>
              </a:spcAft>
            </a:pPr>
            <a:r>
              <a:rPr sz="1800" dirty="0">
                <a:solidFill>
                  <a:srgbClr val="0F172A"/>
                </a:solidFill>
                <a:latin typeface="Aptos"/>
              </a:rPr>
              <a:t>Top tabs separate Work, Information, and Events and Bookings.</a:t>
            </a:r>
          </a:p>
          <a:p>
            <a:pPr algn="l">
              <a:spcAft>
                <a:spcPts val="800"/>
              </a:spcAft>
            </a:pPr>
            <a:r>
              <a:rPr sz="1800" dirty="0">
                <a:solidFill>
                  <a:srgbClr val="0F172A"/>
                </a:solidFill>
                <a:latin typeface="Aptos"/>
              </a:rPr>
              <a:t>Inside Work, each role sees only the sections they are allowed to use.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965960"/>
            <a:ext cx="4949952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dirty="0">
                <a:solidFill>
                  <a:srgbClr val="0F172A"/>
                </a:solidFill>
                <a:latin typeface="Aptos"/>
              </a:rPr>
              <a:t>Start in Work for operational tasks.</a:t>
            </a:r>
          </a:p>
          <a:p>
            <a:pPr algn="l">
              <a:spcAft>
                <a:spcPts val="800"/>
              </a:spcAft>
            </a:pPr>
            <a:r>
              <a:rPr sz="1800" dirty="0">
                <a:solidFill>
                  <a:srgbClr val="0F172A"/>
                </a:solidFill>
                <a:latin typeface="Aptos"/>
              </a:rPr>
              <a:t>Use Information for personal dashboard, shifts, news, announcements, birthdays, and recognition.</a:t>
            </a:r>
          </a:p>
          <a:p>
            <a:pPr algn="l">
              <a:spcAft>
                <a:spcPts val="800"/>
              </a:spcAft>
            </a:pPr>
            <a:r>
              <a:rPr sz="1800" dirty="0">
                <a:solidFill>
                  <a:srgbClr val="0F172A"/>
                </a:solidFill>
                <a:latin typeface="Aptos"/>
              </a:rPr>
              <a:t>Front Office leaders use Events and Bookings for event entries.</a:t>
            </a:r>
          </a:p>
          <a:p>
            <a:pPr algn="l">
              <a:spcAft>
                <a:spcPts val="800"/>
              </a:spcAft>
            </a:pPr>
            <a:r>
              <a:rPr sz="1800" dirty="0">
                <a:solidFill>
                  <a:srgbClr val="0F172A"/>
                </a:solidFill>
                <a:latin typeface="Aptos"/>
              </a:rPr>
              <a:t>On mobile, use the tab pills at the top to switch sections instead of scrolling aimlessly.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46520"/>
            <a:ext cx="11155680" cy="27432"/>
          </a:xfrm>
          <a:prstGeom prst="rect">
            <a:avLst/>
          </a:prstGeom>
          <a:solidFill>
            <a:srgbClr val="C59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475569"/>
                </a:solidFill>
                <a:latin typeface="Aptos"/>
              </a:rPr>
              <a:t>Sunshine Hotel Staff Portal Training | Powered by Tapxora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64373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475569"/>
                </a:solidFill>
                <a:latin typeface="Aptos"/>
              </a:rP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C59D40"/>
                </a:solidFill>
                <a:latin typeface="Aptos"/>
              </a:rPr>
              <a:t>DATA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795527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162338"/>
                </a:solidFill>
                <a:latin typeface="Aptos"/>
              </a:rPr>
              <a:t>Non-Negotiable Operating Rules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73152"/>
            <a:ext cx="960120" cy="14407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79" y="1417320"/>
            <a:ext cx="11306115" cy="3683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F172A"/>
                </a:solidFill>
                <a:latin typeface="Aptos"/>
              </a:rPr>
              <a:t>Always choose Floor first, then Room. Never guess a room number and never rely on memory alone.</a:t>
            </a: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F172A"/>
                </a:solidFill>
                <a:latin typeface="Aptos"/>
              </a:rPr>
              <a:t>Publish changes as soon as the real room status changes. Delayed entry creates sales, cleaning, and breakfast errors.</a:t>
            </a: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F172A"/>
                </a:solidFill>
                <a:latin typeface="Aptos"/>
              </a:rPr>
              <a:t>At 6:00 AM hotel time the operational day rolls over. Multi-day bookings stay active because remaining days reduce automatically.</a:t>
            </a: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F172A"/>
                </a:solidFill>
                <a:latin typeface="Aptos"/>
              </a:rPr>
              <a:t>Out-of-order rooms must not be assigned by Front Office until </a:t>
            </a:r>
            <a:r>
              <a:rPr sz="2000" dirty="0" err="1">
                <a:solidFill>
                  <a:srgbClr val="0F172A"/>
                </a:solidFill>
                <a:latin typeface="Aptos"/>
              </a:rPr>
              <a:t>HouseKeeping</a:t>
            </a:r>
            <a:r>
              <a:rPr sz="2000" dirty="0">
                <a:solidFill>
                  <a:srgbClr val="0F172A"/>
                </a:solidFill>
                <a:latin typeface="Aptos"/>
              </a:rPr>
              <a:t>/</a:t>
            </a:r>
            <a:r>
              <a:rPr sz="2000" dirty="0" err="1">
                <a:solidFill>
                  <a:srgbClr val="0F172A"/>
                </a:solidFill>
                <a:latin typeface="Aptos"/>
              </a:rPr>
              <a:t>Maintainance</a:t>
            </a:r>
            <a:r>
              <a:rPr sz="2000" dirty="0">
                <a:solidFill>
                  <a:srgbClr val="0F172A"/>
                </a:solidFill>
                <a:latin typeface="Aptos"/>
              </a:rPr>
              <a:t> clears them.</a:t>
            </a: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F172A"/>
                </a:solidFill>
                <a:latin typeface="Aptos"/>
              </a:rPr>
              <a:t>Unresolved room complaints continue to appear in daily reports until they are fixed.</a:t>
            </a: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F172A"/>
                </a:solidFill>
                <a:latin typeface="Aptos"/>
              </a:rPr>
              <a:t>Generate reports before handover so the next shift sees the same story you saw.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155680" cy="27432"/>
          </a:xfrm>
          <a:prstGeom prst="rect">
            <a:avLst/>
          </a:prstGeom>
          <a:solidFill>
            <a:srgbClr val="C59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475569"/>
                </a:solidFill>
                <a:latin typeface="Aptos"/>
              </a:rPr>
              <a:t>Sunshine Hotel Staff Portal Training | Powered by Tapxora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64373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475569"/>
                </a:solidFill>
                <a:latin typeface="Aptos"/>
              </a:rP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0789920" cy="4480560"/>
          </a:xfrm>
          <a:prstGeom prst="round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4480560"/>
          </a:xfrm>
          <a:prstGeom prst="rect">
            <a:avLst/>
          </a:prstGeom>
          <a:solidFill>
            <a:srgbClr val="C59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1188720"/>
            <a:ext cx="960120" cy="14407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34440" y="13258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C59D40"/>
                </a:solidFill>
                <a:latin typeface="Aptos"/>
              </a:rPr>
              <a:t>FRONT OFFICE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82880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Aptos"/>
              </a:rPr>
              <a:t>Front Office Manager and Supervisor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926080"/>
            <a:ext cx="78638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DCE2EB"/>
                </a:solidFill>
                <a:latin typeface="Aptos"/>
              </a:rPr>
              <a:t>This section trains live room control, guest movement, reporting, and complaint follow-up for Front Office leaders.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46520"/>
            <a:ext cx="11155680" cy="27432"/>
          </a:xfrm>
          <a:prstGeom prst="rect">
            <a:avLst/>
          </a:prstGeom>
          <a:solidFill>
            <a:srgbClr val="C59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475569"/>
                </a:solidFill>
                <a:latin typeface="Aptos"/>
              </a:rPr>
              <a:t>Sunshine Hotel Staff Portal Training | Powered by Tapxora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4373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475569"/>
                </a:solidFill>
                <a:latin typeface="Aptos"/>
              </a:rP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C59D40"/>
                </a:solidFill>
                <a:latin typeface="Aptos"/>
              </a:rPr>
              <a:t>FRONT OFFICE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795527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162338"/>
                </a:solidFill>
                <a:latin typeface="Aptos"/>
              </a:rPr>
              <a:t>Front Office Role Overview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73152"/>
            <a:ext cx="960120" cy="144074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" y="1417320"/>
            <a:ext cx="5440680" cy="47548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9632" y="1417320"/>
            <a:ext cx="5394960" cy="47548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62763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62338"/>
                </a:solidFill>
                <a:latin typeface="Aptos"/>
              </a:rPr>
              <a:t>Main responsibilities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1627632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62338"/>
                </a:solidFill>
                <a:latin typeface="Aptos"/>
              </a:rPr>
              <a:t>Start-of-shift checklist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4818888" cy="3272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Control room sales status inside Work &gt; Rooms.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Maintain accurate in-house rooms, available rooms, and breakfast entitlement.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Move guests between rooms correctly when room changes happen.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Raise complaints quickly and keep follow-up visible in reports.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Prepare printable daily and date-range reports for review and handover.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965960"/>
            <a:ext cx="4789686" cy="4103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Log in and confirm your name, department, and title are correct.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Check the summary cards for In-house, Available rooms, Breakfast entitlement, and Cleaned rooms.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Open the </a:t>
            </a:r>
            <a:r>
              <a:rPr sz="1800" dirty="0" err="1">
                <a:solidFill>
                  <a:srgbClr val="0F172A"/>
                </a:solidFill>
                <a:latin typeface="Aptos"/>
              </a:rPr>
              <a:t>HouseKeeping</a:t>
            </a:r>
            <a:r>
              <a:rPr sz="1800" dirty="0">
                <a:solidFill>
                  <a:srgbClr val="0F172A"/>
                </a:solidFill>
                <a:latin typeface="Aptos"/>
              </a:rPr>
              <a:t> Cleaned Rooms Report and review rooms tagged freshly cleaned.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Check active complaints before beginning new room sales.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Check Events and Bookings if there is any event affecting rooms, breakfast, or guest movement.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46520"/>
            <a:ext cx="11155680" cy="27432"/>
          </a:xfrm>
          <a:prstGeom prst="rect">
            <a:avLst/>
          </a:prstGeom>
          <a:solidFill>
            <a:srgbClr val="C59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475569"/>
                </a:solidFill>
                <a:latin typeface="Aptos"/>
              </a:rPr>
              <a:t>Sunshine Hotel Staff Portal Training | Powered by Tapxora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64373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475569"/>
                </a:solidFill>
                <a:latin typeface="Aptos"/>
              </a:rP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C59D40"/>
                </a:solidFill>
                <a:latin typeface="Aptos"/>
              </a:rPr>
              <a:t>FRONT OFFICE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795527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162338"/>
                </a:solidFill>
                <a:latin typeface="Aptos"/>
              </a:rPr>
              <a:t>Front Office Workflow: Check In Guest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73152"/>
            <a:ext cx="960120" cy="144074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" y="1417320"/>
            <a:ext cx="5440680" cy="47548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9632" y="1417320"/>
            <a:ext cx="5394960" cy="47548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548701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62338"/>
                </a:solidFill>
                <a:latin typeface="Aptos"/>
              </a:rPr>
              <a:t>How to do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1627632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62338"/>
                </a:solidFill>
                <a:latin typeface="Aptos"/>
              </a:rPr>
              <a:t>What should change immediately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778831"/>
            <a:ext cx="4754880" cy="44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Open Work &gt; Rooms and locate the Check in guest form.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Select Floor first.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Select Room from the dropdown. Rooms marked '- freshly cleaned' should be preferred because </a:t>
            </a:r>
            <a:r>
              <a:rPr sz="1800" dirty="0" err="1">
                <a:solidFill>
                  <a:srgbClr val="0F172A"/>
                </a:solidFill>
                <a:latin typeface="Aptos"/>
              </a:rPr>
              <a:t>HouseKeeping</a:t>
            </a:r>
            <a:r>
              <a:rPr sz="1800" dirty="0">
                <a:solidFill>
                  <a:srgbClr val="0F172A"/>
                </a:solidFill>
                <a:latin typeface="Aptos"/>
              </a:rPr>
              <a:t> has already released them.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Choose Booked for and enter the number of days.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Choose Breakfast Yes or No. If Yes, enter Breakfast count.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Click Check in room and wait for the success message before moving to another task.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965960"/>
            <a:ext cx="4663440" cy="3652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In-house increases.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Available rooms reduces.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Breakfast entitlement updates.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That room appears in the printable In House Report.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If the room was freshly cleaned, the cleaned tag disappears because the room is now occupied.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If the room does not appear, check whether it was already occupied or out of order.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46520"/>
            <a:ext cx="11155680" cy="27432"/>
          </a:xfrm>
          <a:prstGeom prst="rect">
            <a:avLst/>
          </a:prstGeom>
          <a:solidFill>
            <a:srgbClr val="C59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475569"/>
                </a:solidFill>
                <a:latin typeface="Aptos"/>
              </a:rPr>
              <a:t>Sunshine Hotel Staff Portal Training | Powered by Tapxora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64373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475569"/>
                </a:solidFill>
                <a:latin typeface="Aptos"/>
              </a:rP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C59D40"/>
                </a:solidFill>
                <a:latin typeface="Aptos"/>
              </a:rPr>
              <a:t>FRONT OFFICE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795527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162338"/>
                </a:solidFill>
                <a:latin typeface="Aptos"/>
              </a:rPr>
              <a:t>Front Office Workflow: Check Out and Room Move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73152"/>
            <a:ext cx="960120" cy="144074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" y="1417320"/>
            <a:ext cx="5440680" cy="47548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9632" y="1417320"/>
            <a:ext cx="5394960" cy="47548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62763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62338"/>
                </a:solidFill>
                <a:latin typeface="Aptos"/>
              </a:rPr>
              <a:t>Check out room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1627632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62338"/>
                </a:solidFill>
                <a:latin typeface="Aptos"/>
              </a:rPr>
              <a:t>Room move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5038344" cy="3888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F172A"/>
                </a:solidFill>
                <a:latin typeface="Aptos"/>
              </a:rPr>
              <a:t>Open the Check out room form in Work &gt; Rooms.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F172A"/>
                </a:solidFill>
                <a:latin typeface="Aptos"/>
              </a:rPr>
              <a:t>Select the Floor that currently contains the occupied room.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F172A"/>
                </a:solidFill>
                <a:latin typeface="Aptos"/>
              </a:rPr>
              <a:t>Select the Occupied room from the dropdown.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F172A"/>
                </a:solidFill>
                <a:latin typeface="Aptos"/>
              </a:rPr>
              <a:t>Click Mark checked out and wait for the success message.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F172A"/>
                </a:solidFill>
                <a:latin typeface="Aptos"/>
              </a:rPr>
              <a:t>Confirm the room disappears from occupied stock and becomes available again unless another issue blocks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965960"/>
            <a:ext cx="4949952" cy="3683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F172A"/>
                </a:solidFill>
                <a:latin typeface="Aptos"/>
              </a:rPr>
              <a:t>Use Room move when the guest changes room but remains in house.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F172A"/>
                </a:solidFill>
                <a:latin typeface="Aptos"/>
              </a:rPr>
              <a:t>Select Current floor and Occupied room.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F172A"/>
                </a:solidFill>
                <a:latin typeface="Aptos"/>
              </a:rPr>
              <a:t>Select New floor and Unoccupied room.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F172A"/>
                </a:solidFill>
                <a:latin typeface="Aptos"/>
              </a:rPr>
              <a:t>Click Move guest.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F172A"/>
                </a:solidFill>
                <a:latin typeface="Aptos"/>
              </a:rPr>
              <a:t>The move is recorded in the daily report for that operational day.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F172A"/>
                </a:solidFill>
                <a:latin typeface="Aptos"/>
              </a:rPr>
              <a:t>If the destination room shows '- freshly cleaned', that is a good sign the room is ready for use.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46520"/>
            <a:ext cx="11155680" cy="27432"/>
          </a:xfrm>
          <a:prstGeom prst="rect">
            <a:avLst/>
          </a:prstGeom>
          <a:solidFill>
            <a:srgbClr val="C59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475569"/>
                </a:solidFill>
                <a:latin typeface="Aptos"/>
              </a:rPr>
              <a:t>Sunshine Hotel Staff Portal Training | Powered by Tapxora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64373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475569"/>
                </a:solidFill>
                <a:latin typeface="Aptos"/>
              </a:rP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C59D40"/>
                </a:solidFill>
                <a:latin typeface="Aptos"/>
              </a:rPr>
              <a:t>FRONT OFFICE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795527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162338"/>
                </a:solidFill>
                <a:latin typeface="Aptos"/>
              </a:rPr>
              <a:t>Front Office Reports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73152"/>
            <a:ext cx="960120" cy="144074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" y="1417320"/>
            <a:ext cx="5440680" cy="47548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9632" y="1417320"/>
            <a:ext cx="5394960" cy="47548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62763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62338"/>
                </a:solidFill>
                <a:latin typeface="Aptos"/>
              </a:rPr>
              <a:t>Report types in Rooms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1627632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62338"/>
                </a:solidFill>
                <a:latin typeface="Aptos"/>
              </a:rPr>
              <a:t>What the daily report now includes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4709160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In House Report: occupied rooms floor by floor plus breakfast totals.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 err="1">
                <a:solidFill>
                  <a:srgbClr val="0F172A"/>
                </a:solidFill>
                <a:latin typeface="Aptos"/>
              </a:rPr>
              <a:t>HouseKeeping</a:t>
            </a:r>
            <a:r>
              <a:rPr sz="1800" dirty="0">
                <a:solidFill>
                  <a:srgbClr val="0F172A"/>
                </a:solidFill>
                <a:latin typeface="Aptos"/>
              </a:rPr>
              <a:t> Cleaned Rooms Report: cleaned rooms published by </a:t>
            </a:r>
            <a:r>
              <a:rPr sz="1800" dirty="0" err="1">
                <a:solidFill>
                  <a:srgbClr val="0F172A"/>
                </a:solidFill>
                <a:latin typeface="Aptos"/>
              </a:rPr>
              <a:t>HouseKeeping</a:t>
            </a:r>
            <a:r>
              <a:rPr sz="1800" dirty="0">
                <a:solidFill>
                  <a:srgbClr val="0F172A"/>
                </a:solidFill>
                <a:latin typeface="Aptos"/>
              </a:rPr>
              <a:t>. Front Office can print/download it but cannot publish cleaned rooms.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Daily Report: current operational-day report for rooms, events, room moves, and complaint follow-up.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Date Range Report: manager/supervisor selects From and To dates, then prints or downloads the combined report.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965960"/>
            <a:ext cx="4949952" cy="3272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In-house rooms, available rooms, breakfast entitlement, and cleaned rooms for the selected day.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Events for that day.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Room moves for that day.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Complaint follow-up across days until resolution.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If a complaint is fixed on the selected day, it appears as Fixed on that day and disappears from the next day onward.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46520"/>
            <a:ext cx="11155680" cy="27432"/>
          </a:xfrm>
          <a:prstGeom prst="rect">
            <a:avLst/>
          </a:prstGeom>
          <a:solidFill>
            <a:srgbClr val="C59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475569"/>
                </a:solidFill>
                <a:latin typeface="Aptos"/>
              </a:rPr>
              <a:t>Sunshine Hotel Staff Portal Training | Powered by Tapxora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64373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475569"/>
                </a:solidFill>
                <a:latin typeface="Aptos"/>
              </a:rP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C59D40"/>
                </a:solidFill>
                <a:latin typeface="Aptos"/>
              </a:rPr>
              <a:t>FRONT OFFICE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795527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162338"/>
                </a:solidFill>
                <a:latin typeface="Aptos"/>
              </a:rPr>
              <a:t>Front Office Complaints, Events, and Team Tools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73152"/>
            <a:ext cx="960120" cy="144074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" y="1417320"/>
            <a:ext cx="5440680" cy="47548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9632" y="1417320"/>
            <a:ext cx="5394960" cy="47548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62763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62338"/>
                </a:solidFill>
                <a:latin typeface="Aptos"/>
              </a:rPr>
              <a:t>Complaints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1627632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62338"/>
                </a:solidFill>
                <a:latin typeface="Aptos"/>
              </a:rPr>
              <a:t>Other Front Office manager/supervisor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5038344" cy="2995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Open Work &gt; Complaints.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Select Floor, Room, Complaint type, and Note, then send the complaint.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Use clear only when the issue has truly been resolved.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Remember: unresolved complaints keep appearing in daily reports until fix day.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Use precise notes such as 'AC not cooling' instead of vague notes such as 'bad room'.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965960"/>
            <a:ext cx="461772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Events and Bookings tab: create and update event details for other managers to view.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Team section: assign and remove shift dates for team members.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Information tab: review announcements, birthdays, hotel news, and personal staff details.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Use these tools at handover so the next shift inherits the correct picture.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46520"/>
            <a:ext cx="11155680" cy="27432"/>
          </a:xfrm>
          <a:prstGeom prst="rect">
            <a:avLst/>
          </a:prstGeom>
          <a:solidFill>
            <a:srgbClr val="C59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475569"/>
                </a:solidFill>
                <a:latin typeface="Aptos"/>
              </a:rPr>
              <a:t>Sunshine Hotel Staff Portal Training | Powered by Tapxora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64373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475569"/>
                </a:solidFill>
                <a:latin typeface="Aptos"/>
              </a:rP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0789920" cy="4480560"/>
          </a:xfrm>
          <a:prstGeom prst="round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4480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1188720"/>
            <a:ext cx="960120" cy="14407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34440" y="13258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059669"/>
                </a:solidFill>
                <a:latin typeface="Aptos"/>
              </a:rPr>
              <a:t>HOUSEKEEPING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82880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Aptos"/>
              </a:rPr>
              <a:t>HouseKeeping Manager and Supervisor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926080"/>
            <a:ext cx="78638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DCE2EB"/>
                </a:solidFill>
                <a:latin typeface="Aptos"/>
              </a:rPr>
              <a:t>This section trains cleaned-room publishing, room-status reporting, out-of-order updates, and coordination with Front Office.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46520"/>
            <a:ext cx="11155680" cy="27432"/>
          </a:xfrm>
          <a:prstGeom prst="rect">
            <a:avLst/>
          </a:prstGeom>
          <a:solidFill>
            <a:srgbClr val="C59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475569"/>
                </a:solidFill>
                <a:latin typeface="Aptos"/>
              </a:rPr>
              <a:t>Sunshine Hotel Staff Portal Training | Powered by Tapxora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4373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475569"/>
                </a:solidFill>
                <a:latin typeface="Aptos"/>
              </a:rPr>
              <a:t>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C59D40"/>
                </a:solidFill>
                <a:latin typeface="Aptos"/>
              </a:rPr>
              <a:t>HOUSEKEEPING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795527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162338"/>
                </a:solidFill>
                <a:latin typeface="Aptos"/>
              </a:rPr>
              <a:t>HouseKeeping Role Overview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73152"/>
            <a:ext cx="960120" cy="144074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" y="1417320"/>
            <a:ext cx="5440680" cy="47548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9632" y="1417320"/>
            <a:ext cx="5394960" cy="47548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62763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62338"/>
                </a:solidFill>
                <a:latin typeface="Aptos"/>
              </a:rPr>
              <a:t>Main responsibilities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1627632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62338"/>
                </a:solidFill>
                <a:latin typeface="Aptos"/>
              </a:rPr>
              <a:t>Start-of-shift checklist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4818888" cy="2995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Release cleaned rooms quickly so Front Office can sell the correct stock.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Maintain room-status accuracy in </a:t>
            </a:r>
            <a:r>
              <a:rPr sz="1800" dirty="0" err="1">
                <a:solidFill>
                  <a:srgbClr val="0F172A"/>
                </a:solidFill>
                <a:latin typeface="Aptos"/>
              </a:rPr>
              <a:t>HouseKeeping</a:t>
            </a:r>
            <a:r>
              <a:rPr sz="1800" dirty="0">
                <a:solidFill>
                  <a:srgbClr val="0F172A"/>
                </a:solidFill>
                <a:latin typeface="Aptos"/>
              </a:rPr>
              <a:t> Reports.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Mark rooms out of order when they are not saleable and add clear issue notes.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Track complaints and coordinate with Front Office and </a:t>
            </a:r>
            <a:r>
              <a:rPr sz="1800" dirty="0" err="1">
                <a:solidFill>
                  <a:srgbClr val="0F172A"/>
                </a:solidFill>
                <a:latin typeface="Aptos"/>
              </a:rPr>
              <a:t>Maintainance</a:t>
            </a:r>
            <a:r>
              <a:rPr sz="1800" dirty="0">
                <a:solidFill>
                  <a:srgbClr val="0F172A"/>
                </a:solidFill>
                <a:latin typeface="Aptos"/>
              </a:rPr>
              <a:t>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Assign and manage team shift dates.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965960"/>
            <a:ext cx="4919472" cy="3272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Log in and confirm profile details are correct.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Review In-house, Available rooms, and Cleaned rooms summary cards.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Open Work &gt; Rooms and check the cleaned-room board from the last shift.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Open </a:t>
            </a:r>
            <a:r>
              <a:rPr sz="1800" dirty="0" err="1">
                <a:solidFill>
                  <a:srgbClr val="0F172A"/>
                </a:solidFill>
                <a:latin typeface="Aptos"/>
              </a:rPr>
              <a:t>HouseKeeping</a:t>
            </a:r>
            <a:r>
              <a:rPr sz="1800" dirty="0">
                <a:solidFill>
                  <a:srgbClr val="0F172A"/>
                </a:solidFill>
                <a:latin typeface="Aptos"/>
              </a:rPr>
              <a:t> Reports and confirm whether you are working Morning report or Afternoon report.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Review active complaints and out-of-order rooms before assigning physical work.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46520"/>
            <a:ext cx="11155680" cy="27432"/>
          </a:xfrm>
          <a:prstGeom prst="rect">
            <a:avLst/>
          </a:prstGeom>
          <a:solidFill>
            <a:srgbClr val="C59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475569"/>
                </a:solidFill>
                <a:latin typeface="Aptos"/>
              </a:rPr>
              <a:t>Sunshine Hotel Staff Portal Training | Powered by Tapxora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64373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475569"/>
                </a:solidFill>
                <a:latin typeface="Aptos"/>
              </a:rPr>
              <a:t>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C59D40"/>
                </a:solidFill>
                <a:latin typeface="Aptos"/>
              </a:rPr>
              <a:t>HOUSEKEEPING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795527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162338"/>
                </a:solidFill>
                <a:latin typeface="Aptos"/>
              </a:rPr>
              <a:t>HouseKeeping Workflow: Publish Cleaned Rooms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73152"/>
            <a:ext cx="960120" cy="144074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" y="1417320"/>
            <a:ext cx="5440680" cy="47548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9632" y="1417320"/>
            <a:ext cx="5394960" cy="47548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62763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62338"/>
                </a:solidFill>
                <a:latin typeface="Aptos"/>
              </a:rPr>
              <a:t>How to publish cleaned rooms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1627632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62338"/>
                </a:solidFill>
                <a:latin typeface="Aptos"/>
              </a:rPr>
              <a:t>Important control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4818888" cy="3098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Open Work &gt; Rooms.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Use the Mark cleaned room form.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Select Floor first, then Room.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Click Publish cleaned room and wait for the success message.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The cleaned room appears on the Freshly cleaned rooms board, grouped by floor.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Front Office now sees that room tagged '- freshly cleaned' in their room dropdown.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965960"/>
            <a:ext cx="466344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Only </a:t>
            </a:r>
            <a:r>
              <a:rPr sz="1800" dirty="0" err="1">
                <a:solidFill>
                  <a:srgbClr val="0F172A"/>
                </a:solidFill>
                <a:latin typeface="Aptos"/>
              </a:rPr>
              <a:t>HouseKeeping</a:t>
            </a:r>
            <a:r>
              <a:rPr sz="1800" dirty="0">
                <a:solidFill>
                  <a:srgbClr val="0F172A"/>
                </a:solidFill>
                <a:latin typeface="Aptos"/>
              </a:rPr>
              <a:t> manager/supervisor should publish cleaned rooms.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Do not publish a room until it is physically ready for sale.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If a room was published in error, clear it immediately from the cleaned-room board.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Use the board to review which cleaned rooms are already waiting for Front Office.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46520"/>
            <a:ext cx="11155680" cy="27432"/>
          </a:xfrm>
          <a:prstGeom prst="rect">
            <a:avLst/>
          </a:prstGeom>
          <a:solidFill>
            <a:srgbClr val="C59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475569"/>
                </a:solidFill>
                <a:latin typeface="Aptos"/>
              </a:rPr>
              <a:t>Sunshine Hotel Staff Portal Training | Powered by Tapxora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64373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475569"/>
                </a:solidFill>
                <a:latin typeface="Aptos"/>
              </a:rPr>
              <a:t>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C59D40"/>
                </a:solidFill>
                <a:latin typeface="Aptos"/>
              </a:rPr>
              <a:t>HOUSEKEEPING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795527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162338"/>
                </a:solidFill>
                <a:latin typeface="Aptos"/>
              </a:rPr>
              <a:t>HouseKeeping Workflow: Morning and Afternoon Reports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73152"/>
            <a:ext cx="960120" cy="144074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" y="1417320"/>
            <a:ext cx="5440680" cy="47548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9632" y="1417320"/>
            <a:ext cx="5394960" cy="47548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62763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62338"/>
                </a:solidFill>
                <a:latin typeface="Aptos"/>
              </a:rPr>
              <a:t>How to use HouseKeeping Reports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1627632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62338"/>
                </a:solidFill>
                <a:latin typeface="Aptos"/>
              </a:rPr>
              <a:t>Why this report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4818888" cy="3375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Open Work &gt; </a:t>
            </a:r>
            <a:r>
              <a:rPr sz="1800" dirty="0" err="1">
                <a:solidFill>
                  <a:srgbClr val="0F172A"/>
                </a:solidFill>
                <a:latin typeface="Aptos"/>
              </a:rPr>
              <a:t>HouseKeeping</a:t>
            </a:r>
            <a:r>
              <a:rPr sz="1800" dirty="0">
                <a:solidFill>
                  <a:srgbClr val="0F172A"/>
                </a:solidFill>
                <a:latin typeface="Aptos"/>
              </a:rPr>
              <a:t> Reports.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Choose Morning report or Afternoon report.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Select Floor, then Room.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Choose the correct Status and click Save morning report or Save afternoon report.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Use the compact room board on the right to review reported rooms floor by floor.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Use Print report or Download report when management needs the report physically or as PDF.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965960"/>
            <a:ext cx="4919472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It is the internal operational truth for </a:t>
            </a:r>
            <a:r>
              <a:rPr sz="1800" dirty="0" err="1">
                <a:solidFill>
                  <a:srgbClr val="0F172A"/>
                </a:solidFill>
                <a:latin typeface="Aptos"/>
              </a:rPr>
              <a:t>HouseKeeping</a:t>
            </a:r>
            <a:r>
              <a:rPr sz="1800" dirty="0">
                <a:solidFill>
                  <a:srgbClr val="0F172A"/>
                </a:solidFill>
                <a:latin typeface="Aptos"/>
              </a:rPr>
              <a:t> checks.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It shows room-by-room condition for morning and afternoon rounds.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It prevents long handwritten sheets and makes the status visible immediately.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It helps </a:t>
            </a:r>
            <a:r>
              <a:rPr sz="1800" dirty="0" err="1">
                <a:solidFill>
                  <a:srgbClr val="0F172A"/>
                </a:solidFill>
                <a:latin typeface="Aptos"/>
              </a:rPr>
              <a:t>HouseKeeping</a:t>
            </a:r>
            <a:r>
              <a:rPr sz="1800" dirty="0">
                <a:solidFill>
                  <a:srgbClr val="0F172A"/>
                </a:solidFill>
                <a:latin typeface="Aptos"/>
              </a:rPr>
              <a:t> supervisors verify rooms without re-walking every floor blindly.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46520"/>
            <a:ext cx="11155680" cy="27432"/>
          </a:xfrm>
          <a:prstGeom prst="rect">
            <a:avLst/>
          </a:prstGeom>
          <a:solidFill>
            <a:srgbClr val="C59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475569"/>
                </a:solidFill>
                <a:latin typeface="Aptos"/>
              </a:rPr>
              <a:t>Sunshine Hotel Staff Portal Training | Powered by Tapxora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64373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475569"/>
                </a:solidFill>
                <a:latin typeface="Aptos"/>
              </a:rPr>
              <a:t>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C59D40"/>
                </a:solidFill>
                <a:latin typeface="Aptos"/>
              </a:rPr>
              <a:t>HOUSEKEEPING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795527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162338"/>
                </a:solidFill>
                <a:latin typeface="Aptos"/>
              </a:rPr>
              <a:t>HouseKeeping Status Meanings and Property Rules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73152"/>
            <a:ext cx="960120" cy="1440743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63040"/>
          <a:ext cx="1088136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539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Status / Rule</a:t>
                      </a:r>
                    </a:p>
                  </a:txBody>
                  <a:tcPr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Meaning</a:t>
                      </a:r>
                    </a:p>
                  </a:txBody>
                  <a:tcPr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How to use it correctly</a:t>
                      </a:r>
                    </a:p>
                  </a:txBody>
                  <a:tcPr>
                    <a:solidFill>
                      <a:srgbClr val="1623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Aptos"/>
                        </a:rPr>
                        <a:t>Occupied - black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Aptos"/>
                        </a:rPr>
                        <a:t>Guest is currently in the room.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Aptos"/>
                        </a:rPr>
                        <a:t>Use when the room is sold and the guest is still staying there.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Aptos"/>
                        </a:rPr>
                        <a:t>Vacant and Cleaned - green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Aptos"/>
                        </a:rPr>
                        <a:t>Room is empty and ready for sale.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Aptos"/>
                        </a:rPr>
                        <a:t>Use only after physical cleaning is completed and checked.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Aptos"/>
                        </a:rPr>
                        <a:t>Out of Order - red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Aptos"/>
                        </a:rPr>
                        <a:t>Room cannot be sold right now.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Aptos"/>
                        </a:rPr>
                        <a:t>Use when damage or a serious issue blocks sale. Add issue note in Property.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Aptos"/>
                        </a:rPr>
                        <a:t>Vacant and Uncleaned - blue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Aptos"/>
                        </a:rPr>
                        <a:t>Room is empty but not ready for sale.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Aptos"/>
                        </a:rPr>
                        <a:t>Use when the room is not occupied but still needs cleaning or reset.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Aptos"/>
                        </a:rPr>
                        <a:t>Property &gt; Out of order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Aptos"/>
                        </a:rPr>
                        <a:t>Room is removed from Front Office sellable stock.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Aptos"/>
                        </a:rPr>
                        <a:t>Select Floor and Room, keep Out of order = Yes, write exactly what needs to be done, then save.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539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Aptos"/>
                        </a:rPr>
                        <a:t>Clearing a property issue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Aptos"/>
                        </a:rPr>
                        <a:t>Room becomes sellable again after real fix.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Aptos"/>
                        </a:rPr>
                        <a:t>Clear only when the room is truly ready; otherwise Front Office may sell a bad room.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6446520"/>
            <a:ext cx="11155680" cy="27432"/>
          </a:xfrm>
          <a:prstGeom prst="rect">
            <a:avLst/>
          </a:prstGeom>
          <a:solidFill>
            <a:srgbClr val="C59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475569"/>
                </a:solidFill>
                <a:latin typeface="Aptos"/>
              </a:rPr>
              <a:t>Sunshine Hotel Staff Portal Training | Powered by Tapxora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4373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475569"/>
                </a:solidFill>
                <a:latin typeface="Aptos"/>
              </a:rPr>
              <a:t>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C59D40"/>
                </a:solidFill>
                <a:latin typeface="Aptos"/>
              </a:rPr>
              <a:t>HOUSEKEEPING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795527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162338"/>
                </a:solidFill>
                <a:latin typeface="Aptos"/>
              </a:rPr>
              <a:t>HouseKeeping Complaints, Coordination, and Team Tools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73152"/>
            <a:ext cx="960120" cy="144074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" y="1417320"/>
            <a:ext cx="5440680" cy="47548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9632" y="1417320"/>
            <a:ext cx="5394960" cy="47548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62763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62338"/>
                </a:solidFill>
                <a:latin typeface="Aptos"/>
              </a:rPr>
              <a:t>Complaints and coordination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1627632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62338"/>
                </a:solidFill>
                <a:latin typeface="Aptos"/>
              </a:rPr>
              <a:t>Team and communication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4754880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 err="1">
                <a:solidFill>
                  <a:srgbClr val="0F172A"/>
                </a:solidFill>
                <a:latin typeface="Aptos"/>
              </a:rPr>
              <a:t>HouseKeeping</a:t>
            </a:r>
            <a:r>
              <a:rPr sz="1800" dirty="0">
                <a:solidFill>
                  <a:srgbClr val="0F172A"/>
                </a:solidFill>
                <a:latin typeface="Aptos"/>
              </a:rPr>
              <a:t> leaders can also use Work &gt; Complaints to review and clear room complaints.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When Front Office reports an issue, </a:t>
            </a:r>
            <a:r>
              <a:rPr sz="1800" dirty="0" err="1">
                <a:solidFill>
                  <a:srgbClr val="0F172A"/>
                </a:solidFill>
                <a:latin typeface="Aptos"/>
              </a:rPr>
              <a:t>HouseKeeping</a:t>
            </a:r>
            <a:r>
              <a:rPr sz="1800" dirty="0">
                <a:solidFill>
                  <a:srgbClr val="0F172A"/>
                </a:solidFill>
                <a:latin typeface="Aptos"/>
              </a:rPr>
              <a:t> should confirm whether it is cleaning-related, room-condition-related, or requires </a:t>
            </a:r>
            <a:r>
              <a:rPr sz="1800" dirty="0" err="1">
                <a:solidFill>
                  <a:srgbClr val="0F172A"/>
                </a:solidFill>
                <a:latin typeface="Aptos"/>
              </a:rPr>
              <a:t>Maintainance</a:t>
            </a:r>
            <a:r>
              <a:rPr sz="1800" dirty="0">
                <a:solidFill>
                  <a:srgbClr val="0F172A"/>
                </a:solidFill>
                <a:latin typeface="Aptos"/>
              </a:rPr>
              <a:t>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Use exact notes and communicate resolution as soon as the room is ready.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Remember: until the issue is cleared, it continues to appear in daily report follow-up.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965960"/>
            <a:ext cx="494995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Use Work &gt; Team to assign shift dates for attendants/supervisors.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Remove wrong shift entries immediately to avoid staff confusion.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Use Information for announcements, birthdays, hotel news, and personal staff details.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Use Events and Bookings view to prepare for occupancy pressure, VIP movement, or event-related cleaning needs.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46520"/>
            <a:ext cx="11155680" cy="27432"/>
          </a:xfrm>
          <a:prstGeom prst="rect">
            <a:avLst/>
          </a:prstGeom>
          <a:solidFill>
            <a:srgbClr val="C59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475569"/>
                </a:solidFill>
                <a:latin typeface="Aptos"/>
              </a:rPr>
              <a:t>Sunshine Hotel Staff Portal Training | Powered by Tapxora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64373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475569"/>
                </a:solidFill>
                <a:latin typeface="Aptos"/>
              </a:rPr>
              <a:t>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C59D40"/>
                </a:solidFill>
                <a:latin typeface="Aptos"/>
              </a:rPr>
              <a:t>TRAINER EXERCISES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795527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162338"/>
                </a:solidFill>
                <a:latin typeface="Aptos"/>
              </a:rPr>
              <a:t>Practical Drills and Assessment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73152"/>
            <a:ext cx="960120" cy="144074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" y="1417320"/>
            <a:ext cx="5440680" cy="47548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9632" y="1417320"/>
            <a:ext cx="5169408" cy="47548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62763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62338"/>
                </a:solidFill>
                <a:latin typeface="Aptos"/>
              </a:rPr>
              <a:t>Front Office drills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1627632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62338"/>
                </a:solidFill>
                <a:latin typeface="Aptos"/>
              </a:rPr>
              <a:t>HouseKeeping drills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4754880" cy="2995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Check in room 104 for 3 days with breakfast count 2.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Check out one occupied room correctly.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Move a guest from one occupied room to a clean available room.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Print the daily report and explain where room moves and complaints appear.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Run a date-range report for two operational dates and download it as PDF.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965960"/>
            <a:ext cx="4617720" cy="2995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Publish three cleaned rooms from different floors.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Create one Morning report with at least four rooms and mixed statuses.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Mark one room out of order and write the issue note clearly.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Clear one wrong cleaned-room entry.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Print the </a:t>
            </a:r>
            <a:r>
              <a:rPr sz="1800" dirty="0" err="1">
                <a:solidFill>
                  <a:srgbClr val="0F172A"/>
                </a:solidFill>
                <a:latin typeface="Aptos"/>
              </a:rPr>
              <a:t>HouseKeeping</a:t>
            </a:r>
            <a:r>
              <a:rPr sz="1800" dirty="0">
                <a:solidFill>
                  <a:srgbClr val="0F172A"/>
                </a:solidFill>
                <a:latin typeface="Aptos"/>
              </a:rPr>
              <a:t> report and explain the meaning of each status color.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46520"/>
            <a:ext cx="11155680" cy="27432"/>
          </a:xfrm>
          <a:prstGeom prst="rect">
            <a:avLst/>
          </a:prstGeom>
          <a:solidFill>
            <a:srgbClr val="C59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475569"/>
                </a:solidFill>
                <a:latin typeface="Aptos"/>
              </a:rPr>
              <a:t>Sunshine Hotel Staff Portal Training | Powered by Tapxora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64373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475569"/>
                </a:solidFill>
                <a:latin typeface="Aptos"/>
              </a:rPr>
              <a:t>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C59D40"/>
                </a:solidFill>
                <a:latin typeface="Aptos"/>
              </a:rPr>
              <a:t>RISK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795527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162338"/>
                </a:solidFill>
                <a:latin typeface="Aptos"/>
              </a:rPr>
              <a:t>Common Mistakes and How to Correct Them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73152"/>
            <a:ext cx="960120" cy="144074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" y="1417320"/>
            <a:ext cx="5440680" cy="47548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9632" y="1417320"/>
            <a:ext cx="5394960" cy="47548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62763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62338"/>
                </a:solidFill>
                <a:latin typeface="Aptos"/>
              </a:rPr>
              <a:t>Front Office mistakes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1627632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62338"/>
                </a:solidFill>
                <a:latin typeface="Aptos"/>
              </a:rPr>
              <a:t>HouseKeeping mistakes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Selecting the wrong floor before selecting room. Correction: always confirm floor first.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Entering breakfast count when breakfast is No. Correction: leave breakfast count disabled unless breakfast is Yes.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Forgetting to check out a departed guest. Correction: close rooms immediately at departure.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Moving a guest without checking destination room readiness. Correction: prefer rooms tagged freshly cleaned or otherwise confirmed ready.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965960"/>
            <a:ext cx="4663440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Publishing a cleaned room before physical completion. Correction: publish only after inspection.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Using wrong status color meaning. Correction: black occupied, green vacant and cleaned, red out of order, blue vacant and uncleaned.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Clearing out-of-order too early. Correction: clear only after the room is truly ready for sale.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F172A"/>
                </a:solidFill>
                <a:latin typeface="Aptos"/>
              </a:rPr>
              <a:t>Leaving morning/afternoon report incomplete. Correction: report every relevant room before printing.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46520"/>
            <a:ext cx="11155680" cy="27432"/>
          </a:xfrm>
          <a:prstGeom prst="rect">
            <a:avLst/>
          </a:prstGeom>
          <a:solidFill>
            <a:srgbClr val="C59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475569"/>
                </a:solidFill>
                <a:latin typeface="Aptos"/>
              </a:rPr>
              <a:t>Sunshine Hotel Staff Portal Training | Powered by Tapxora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64373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475569"/>
                </a:solidFill>
                <a:latin typeface="Aptos"/>
              </a:rPr>
              <a:t>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C59D40"/>
                </a:solidFill>
                <a:latin typeface="Aptos"/>
              </a:rPr>
              <a:t>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795527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162338"/>
                </a:solidFill>
                <a:latin typeface="Aptos"/>
              </a:rPr>
              <a:t>Go-Live Checklist and Support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73152"/>
            <a:ext cx="960120" cy="14407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417320"/>
            <a:ext cx="11018520" cy="3375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F172A"/>
                </a:solidFill>
                <a:latin typeface="Aptos"/>
              </a:rPr>
              <a:t>Confirm every manager/supervisor can log in alone and reach the correct work section.</a:t>
            </a: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F172A"/>
                </a:solidFill>
                <a:latin typeface="Aptos"/>
              </a:rPr>
              <a:t>Confirm Front Office leaders can complete one check-in, one check-out, one room move, and one daily report download without help.</a:t>
            </a: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F172A"/>
                </a:solidFill>
                <a:latin typeface="Aptos"/>
              </a:rPr>
              <a:t>Confirm </a:t>
            </a:r>
            <a:r>
              <a:rPr sz="2000" dirty="0" err="1">
                <a:solidFill>
                  <a:srgbClr val="0F172A"/>
                </a:solidFill>
                <a:latin typeface="Aptos"/>
              </a:rPr>
              <a:t>HouseKeeping</a:t>
            </a:r>
            <a:r>
              <a:rPr sz="2000" dirty="0">
                <a:solidFill>
                  <a:srgbClr val="0F172A"/>
                </a:solidFill>
                <a:latin typeface="Aptos"/>
              </a:rPr>
              <a:t> leaders can publish cleaned rooms, complete one </a:t>
            </a:r>
            <a:r>
              <a:rPr sz="2000" dirty="0" err="1">
                <a:solidFill>
                  <a:srgbClr val="0F172A"/>
                </a:solidFill>
                <a:latin typeface="Aptos"/>
              </a:rPr>
              <a:t>HouseKeeping</a:t>
            </a:r>
            <a:r>
              <a:rPr sz="2000" dirty="0">
                <a:solidFill>
                  <a:srgbClr val="0F172A"/>
                </a:solidFill>
                <a:latin typeface="Aptos"/>
              </a:rPr>
              <a:t> report, and mark one room out of order without help.</a:t>
            </a: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F172A"/>
                </a:solidFill>
                <a:latin typeface="Aptos"/>
              </a:rPr>
              <a:t>Confirm both departments understand who publishes cleaned rooms and who only views them.</a:t>
            </a: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F172A"/>
                </a:solidFill>
                <a:latin typeface="Aptos"/>
              </a:rPr>
              <a:t>Confirm the printer/PDF workflow works on at least one laptop and one phone.</a:t>
            </a: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F172A"/>
                </a:solidFill>
                <a:latin typeface="Aptos"/>
              </a:rPr>
              <a:t>Escalate access problems, missing tabs, sync delays, or broken report downloads to the IT admin immediately.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155680" cy="27432"/>
          </a:xfrm>
          <a:prstGeom prst="rect">
            <a:avLst/>
          </a:prstGeom>
          <a:solidFill>
            <a:srgbClr val="C59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475569"/>
                </a:solidFill>
                <a:latin typeface="Aptos"/>
              </a:rPr>
              <a:t>Sunshine Hotel Staff Portal Training | Powered by Tapxora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64373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475569"/>
                </a:solidFill>
                <a:latin typeface="Aptos"/>
              </a:rPr>
              <a:t>Slide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919</TotalTime>
  <Words>2745</Words>
  <Application>Microsoft Office PowerPoint</Application>
  <PresentationFormat>Widescreen</PresentationFormat>
  <Paragraphs>298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Sunshine Hotel Staff Portal Onboarding Training</dc:title>
  <dc:subject>Front Office and HouseKeeping manager/supervisor training</dc:subject>
  <dc:creator>OpenAI Codex</dc:creator>
  <cp:keywords/>
  <dc:description>generated using python-pptx</dc:description>
  <cp:lastModifiedBy>obinna vitalis</cp:lastModifiedBy>
  <cp:revision>2</cp:revision>
  <dcterms:created xsi:type="dcterms:W3CDTF">2013-01-27T09:14:16Z</dcterms:created>
  <dcterms:modified xsi:type="dcterms:W3CDTF">2026-06-17T10:11:12Z</dcterms:modified>
  <cp:category/>
</cp:coreProperties>
</file>